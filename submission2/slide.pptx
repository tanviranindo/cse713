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B96DD9-B558-4C5C-A1D2-BDE0BA03C551}">
  <a:tblStyle styleId="{D4B96DD9-B558-4C5C-A1D2-BDE0BA03C5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4.xml"/><Relationship Id="rId32" Type="http://schemas.openxmlformats.org/officeDocument/2006/relationships/font" Target="fonts/Inter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28.png"/><Relationship Id="rId5" Type="http://schemas.openxmlformats.org/officeDocument/2006/relationships/image" Target="../media/image33.png"/><Relationship Id="rId6" Type="http://schemas.openxmlformats.org/officeDocument/2006/relationships/image" Target="../media/image15.png"/><Relationship Id="rId7" Type="http://schemas.openxmlformats.org/officeDocument/2006/relationships/image" Target="../media/image24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29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13.png"/><Relationship Id="rId7" Type="http://schemas.openxmlformats.org/officeDocument/2006/relationships/image" Target="../media/image11.png"/><Relationship Id="rId8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Relationship Id="rId7" Type="http://schemas.openxmlformats.org/officeDocument/2006/relationships/image" Target="../media/image20.png"/><Relationship Id="rId8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 txBox="1"/>
          <p:nvPr/>
        </p:nvSpPr>
        <p:spPr>
          <a:xfrm>
            <a:off x="995362" y="1626989"/>
            <a:ext cx="10201275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xHybrid: Explainable Hybrid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Anomaly Detection</a:t>
            </a:r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2700337" y="3592710"/>
            <a:ext cx="6791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A Fusion of Grammar and Neural Networks for Traces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415050" y="4811525"/>
            <a:ext cx="536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TANVIR RAHMAN - </a:t>
            </a:r>
            <a:r>
              <a:rPr b="1" lang="en-US" sz="16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22241134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CSE713</a:t>
            </a:r>
            <a:r>
              <a:rPr lang="en-US" sz="16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6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Advance Pattern Recognition</a:t>
            </a: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| Fall 2025</a:t>
            </a:r>
            <a:endParaRPr/>
          </a:p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2675"/>
            <a:ext cx="5286375" cy="3105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52675"/>
            <a:ext cx="5286375" cy="31051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66775" y="2647950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Challenge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66775" y="3162300"/>
            <a:ext cx="46958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Microservices generate </a:t>
            </a: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millions of traces daily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 Real-time anomaly detection is critical for maintaining high system reliability.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4167187"/>
            <a:ext cx="469582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The central trade-off lies between the </a:t>
            </a: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of deep learning and the </a:t>
            </a: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interpretability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of rule-based systems.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29400" y="2647950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Current Landscape</a:t>
            </a:r>
            <a:endParaRPr/>
          </a:p>
        </p:txBody>
      </p:sp>
      <p:graphicFrame>
        <p:nvGraphicFramePr>
          <p:cNvPr id="98" name="Google Shape;98;p14"/>
          <p:cNvGraphicFramePr/>
          <p:nvPr/>
        </p:nvGraphicFramePr>
        <p:xfrm>
          <a:off x="66294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{D4B96DD9-B558-4C5C-A1D2-BDE0BA03C551}</a:tableStyleId>
              </a:tblPr>
              <a:tblGrid>
                <a:gridCol w="1948900"/>
                <a:gridCol w="1162500"/>
                <a:gridCol w="1584425"/>
              </a:tblGrid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Approach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Interpretability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Deep Learning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Rule-Based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3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xHybrid (Proposed)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14"/>
          <p:cNvSpPr/>
          <p:nvPr/>
        </p:nvSpPr>
        <p:spPr>
          <a:xfrm>
            <a:off x="6629400" y="4005262"/>
            <a:ext cx="19489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578304" y="4005262"/>
            <a:ext cx="11624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9740800" y="4005262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629400" y="4424362"/>
            <a:ext cx="19489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578304" y="4424362"/>
            <a:ext cx="11624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9740800" y="4424362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629400" y="4843462"/>
            <a:ext cx="194890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8578304" y="4843462"/>
            <a:ext cx="116249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9740800" y="4843462"/>
            <a:ext cx="158442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6" name="Google Shape;116;p15"/>
          <p:cNvGraphicFramePr/>
          <p:nvPr/>
        </p:nvGraphicFramePr>
        <p:xfrm>
          <a:off x="571500" y="2409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{D4B96DD9-B558-4C5C-A1D2-BDE0BA03C551}</a:tableStyleId>
              </a:tblPr>
              <a:tblGrid>
                <a:gridCol w="1203575"/>
                <a:gridCol w="3377500"/>
                <a:gridCol w="4293700"/>
                <a:gridCol w="2174225"/>
              </a:tblGrid>
              <a:tr h="42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Paper / 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Contribution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Best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2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FC-ADL (SoCC)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Causal discovery, 152</a:t>
                      </a: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×</a:t>
                      </a: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faster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F1: 0.95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Few-Shot (arXiv)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Cross-system transfer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Acc: 93.26%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CHASE (FSE)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Causal hypergraph RCA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+36.2% A@1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MSTGAD (ASE)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Twin graph learning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F1: 0.961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DeepTraLog (ICSE)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Graph-based SVDD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F1: 0.954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2020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TraceAnomaly (ISSRE)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Service-level VAE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P/R: 0.97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15"/>
          <p:cNvSpPr/>
          <p:nvPr/>
        </p:nvSpPr>
        <p:spPr>
          <a:xfrm>
            <a:off x="571500" y="3290887"/>
            <a:ext cx="12035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775073" y="3290887"/>
            <a:ext cx="3377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152578" y="3290887"/>
            <a:ext cx="42936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9446269" y="3290887"/>
            <a:ext cx="2174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1500" y="3709987"/>
            <a:ext cx="12035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1775073" y="3709987"/>
            <a:ext cx="3377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152578" y="3709987"/>
            <a:ext cx="42936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9446269" y="3709987"/>
            <a:ext cx="2174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1500" y="4129087"/>
            <a:ext cx="12035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1775073" y="4129087"/>
            <a:ext cx="3377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152578" y="4129087"/>
            <a:ext cx="42936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9446269" y="4129087"/>
            <a:ext cx="2174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4548187"/>
            <a:ext cx="12035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1775073" y="4548187"/>
            <a:ext cx="3377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152578" y="4548187"/>
            <a:ext cx="42936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9446269" y="4548187"/>
            <a:ext cx="2174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71500" y="4967287"/>
            <a:ext cx="12035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1775073" y="4967287"/>
            <a:ext cx="3377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5152578" y="4967287"/>
            <a:ext cx="42936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9446269" y="4967287"/>
            <a:ext cx="2174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71500" y="5386387"/>
            <a:ext cx="12035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775073" y="5386387"/>
            <a:ext cx="337750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5152578" y="5386387"/>
            <a:ext cx="4293691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9446269" y="5386387"/>
            <a:ext cx="217423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LITERATURE REVIEW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845468" y="2047875"/>
            <a:ext cx="8501062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Gap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810250" y="3267075"/>
            <a:ext cx="571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2047875" y="3552825"/>
            <a:ext cx="8096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Existing literature fails to combine </a:t>
            </a: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Structural (GNN)</a:t>
            </a:r>
            <a:r>
              <a:rPr b="0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Temporal (LSTM)</a:t>
            </a:r>
            <a:r>
              <a:rPr b="0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, and </a:t>
            </a: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Syntactic (Grammar)</a:t>
            </a:r>
            <a:r>
              <a:rPr b="0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features with comprehensive </a:t>
            </a:r>
            <a:r>
              <a:rPr b="1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multi-level Explainable AI</a:t>
            </a:r>
            <a:r>
              <a:rPr b="0" i="0" lang="en-US" sz="18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5000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title="Screenshot 2025-12-24 at 3.02.19 PM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2625" y="2107938"/>
            <a:ext cx="4084124" cy="359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6667500" y="3148012"/>
            <a:ext cx="4953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Grammar: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SAX + Sequitur for syntactic rules.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190875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667500" y="3562350"/>
            <a:ext cx="4953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GNN: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Graph Attention for structural patterns.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605212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6667500" y="3976687"/>
            <a:ext cx="4953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LSTM: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Bidirectional for temporal features.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0195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6667500" y="4391025"/>
            <a:ext cx="4953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Attention: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Fuses all branches dynamically.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4125" y="4433887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62000" y="57150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ybrid</a:t>
            </a: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ARCHITECTURE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0762"/>
            <a:ext cx="3524250" cy="2490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290762"/>
            <a:ext cx="3524250" cy="2490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290762"/>
            <a:ext cx="3524250" cy="249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71500" y="5067300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Powered by PyTorch, PyTorch Geometric, LIME, and SHAP.</a:t>
            </a:r>
            <a:endParaRPr/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9312" y="25288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733425" y="3052762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Level 1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09625" y="3509962"/>
            <a:ext cx="3048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Grammar Rules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Translates traces into human-readable patterns.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1687" y="25288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4495800" y="3052762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Level 2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4572000" y="3509962"/>
            <a:ext cx="3048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Attention Weights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Highlights specific services contributing to anomalies.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67875" y="25288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8258175" y="3052762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Level 3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8334375" y="3509962"/>
            <a:ext cx="304800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SHAP Values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Quantifies individual feature contributions to the score.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MULTI-LEVEL EXPLAINABILITY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05000"/>
            <a:ext cx="52863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title="HMRLVTtS0CC0jPxHAkgUr.png"/>
          <p:cNvPicPr preferRelativeResize="0"/>
          <p:nvPr/>
        </p:nvPicPr>
        <p:blipFill rotWithShape="1">
          <a:blip r:embed="rId5">
            <a:alphaModFix/>
          </a:blip>
          <a:srcRect b="14428" l="7260" r="7820" t="15223"/>
          <a:stretch/>
        </p:blipFill>
        <p:spPr>
          <a:xfrm>
            <a:off x="6687775" y="1890275"/>
            <a:ext cx="4488901" cy="3718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19"/>
          <p:cNvGrpSpPr/>
          <p:nvPr/>
        </p:nvGrpSpPr>
        <p:grpSpPr>
          <a:xfrm>
            <a:off x="571500" y="1926281"/>
            <a:ext cx="5286375" cy="219300"/>
            <a:chOff x="571500" y="1926281"/>
            <a:chExt cx="5286375" cy="219300"/>
          </a:xfrm>
        </p:grpSpPr>
        <p:sp>
          <p:nvSpPr>
            <p:cNvPr id="200" name="Google Shape;200;p19"/>
            <p:cNvSpPr txBox="1"/>
            <p:nvPr/>
          </p:nvSpPr>
          <p:spPr>
            <a:xfrm>
              <a:off x="904875" y="1926281"/>
              <a:ext cx="4953000" cy="2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Train-Ticket:</a:t>
              </a:r>
              <a:r>
                <a:rPr b="0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2.</a:t>
              </a:r>
              <a:r>
                <a:rPr lang="en-US" sz="14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8</a:t>
              </a:r>
              <a:r>
                <a:rPr b="0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GB, ~</a:t>
              </a:r>
              <a:r>
                <a:rPr lang="en-US" sz="14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76.7</a:t>
              </a:r>
              <a:r>
                <a:rPr b="0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M traces (</a:t>
              </a:r>
              <a:r>
                <a:rPr lang="en-US" sz="14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41</a:t>
              </a:r>
              <a:r>
                <a:rPr b="0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services).</a:t>
              </a:r>
              <a:endParaRPr/>
            </a:p>
          </p:txBody>
        </p:sp>
        <p:pic>
          <p:nvPicPr>
            <p:cNvPr descr="image.png" id="201" name="Google Shape;201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1500" y="1935919"/>
              <a:ext cx="171450" cy="200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19"/>
          <p:cNvGrpSpPr/>
          <p:nvPr/>
        </p:nvGrpSpPr>
        <p:grpSpPr>
          <a:xfrm>
            <a:off x="571500" y="2340619"/>
            <a:ext cx="5286375" cy="219300"/>
            <a:chOff x="571500" y="2340619"/>
            <a:chExt cx="5286375" cy="219300"/>
          </a:xfrm>
        </p:grpSpPr>
        <p:sp>
          <p:nvSpPr>
            <p:cNvPr id="203" name="Google Shape;203;p19"/>
            <p:cNvSpPr txBox="1"/>
            <p:nvPr/>
          </p:nvSpPr>
          <p:spPr>
            <a:xfrm>
              <a:off x="904875" y="2340619"/>
              <a:ext cx="4953000" cy="2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Sock-Shop:</a:t>
              </a:r>
              <a:r>
                <a:rPr b="0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1</a:t>
              </a:r>
              <a:r>
                <a:rPr lang="en-US" sz="1425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3</a:t>
              </a:r>
              <a:r>
                <a:rPr b="0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services (Cross-system validation).</a:t>
              </a:r>
              <a:endParaRPr/>
            </a:p>
          </p:txBody>
        </p:sp>
        <p:pic>
          <p:nvPicPr>
            <p:cNvPr descr="image.png" id="204" name="Google Shape;204;p1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71500" y="2350256"/>
              <a:ext cx="190500" cy="200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" name="Google Shape;205;p19"/>
          <p:cNvGrpSpPr/>
          <p:nvPr/>
        </p:nvGrpSpPr>
        <p:grpSpPr>
          <a:xfrm>
            <a:off x="571500" y="2754956"/>
            <a:ext cx="5286375" cy="219300"/>
            <a:chOff x="571500" y="2754956"/>
            <a:chExt cx="5286375" cy="219300"/>
          </a:xfrm>
        </p:grpSpPr>
        <p:sp>
          <p:nvSpPr>
            <p:cNvPr id="206" name="Google Shape;206;p19"/>
            <p:cNvSpPr txBox="1"/>
            <p:nvPr/>
          </p:nvSpPr>
          <p:spPr>
            <a:xfrm>
              <a:off x="904875" y="2754956"/>
              <a:ext cx="4953000" cy="2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6 Fault Types:</a:t>
              </a:r>
              <a:r>
                <a:rPr b="0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CPU, Memory, Disk, Delay, Loss, Socket.</a:t>
              </a:r>
              <a:endParaRPr/>
            </a:p>
          </p:txBody>
        </p:sp>
        <p:pic>
          <p:nvPicPr>
            <p:cNvPr descr="image.png" id="207" name="Google Shape;207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71500" y="2764594"/>
              <a:ext cx="190500" cy="200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19"/>
          <p:cNvGrpSpPr/>
          <p:nvPr/>
        </p:nvGrpSpPr>
        <p:grpSpPr>
          <a:xfrm>
            <a:off x="571500" y="3169293"/>
            <a:ext cx="5286375" cy="219300"/>
            <a:chOff x="571500" y="3169294"/>
            <a:chExt cx="5286375" cy="219300"/>
          </a:xfrm>
        </p:grpSpPr>
        <p:sp>
          <p:nvSpPr>
            <p:cNvPr id="209" name="Google Shape;209;p19"/>
            <p:cNvSpPr txBox="1"/>
            <p:nvPr/>
          </p:nvSpPr>
          <p:spPr>
            <a:xfrm>
              <a:off x="904875" y="3169293"/>
              <a:ext cx="4953000" cy="2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99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Current Sample:</a:t>
              </a:r>
              <a:r>
                <a:rPr b="0" i="0" lang="en-US" sz="1425" u="none" cap="none" strike="noStrike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 10K processed traces.</a:t>
              </a:r>
              <a:endParaRPr/>
            </a:p>
          </p:txBody>
        </p:sp>
        <p:pic>
          <p:nvPicPr>
            <p:cNvPr descr="image.png" id="210" name="Google Shape;210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71500" y="3178931"/>
              <a:ext cx="190500" cy="200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DATASETS &amp; FAULTS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571500" y="4660106"/>
            <a:ext cx="110490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Note: xHybrid results are preliminary on 10K sample. Precision/Recall/F1: 0.979.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PRELIMINARY PERFORMANCE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1285875" y="1971675"/>
            <a:ext cx="10039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Sample Size: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Initial evaluation on 10K traces; full ~</a:t>
            </a:r>
            <a:r>
              <a:rPr lang="en-US" sz="142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76.7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 trace validation is required.</a:t>
            </a:r>
            <a:endParaRPr/>
          </a:p>
        </p:txBody>
      </p:sp>
      <p:pic>
        <p:nvPicPr>
          <p:cNvPr descr="image.png" id="231" name="Google Shape;2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0145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1285875" y="2386012"/>
            <a:ext cx="100395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Diversity: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Currently only single-system (Train-Ticket) testing complete.</a:t>
            </a:r>
            <a:endParaRPr/>
          </a:p>
        </p:txBody>
      </p:sp>
      <p:pic>
        <p:nvPicPr>
          <p:cNvPr descr="image.png" id="233" name="Google Shape;23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4288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 txBox="1"/>
          <p:nvPr/>
        </p:nvSpPr>
        <p:spPr>
          <a:xfrm>
            <a:off x="1285875" y="2800350"/>
            <a:ext cx="100395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Modality: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Trace-only input; logs and metrics fusion not yet integrated into the PoC.</a:t>
            </a:r>
            <a:endParaRPr/>
          </a:p>
        </p:txBody>
      </p:sp>
      <p:pic>
        <p:nvPicPr>
          <p:cNvPr descr="image.png" id="235" name="Google Shape;23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8432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CURRENT LIMITATIONS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1285875" y="1971675"/>
            <a:ext cx="10039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Full-scale evaluation on the complete </a:t>
            </a:r>
            <a:r>
              <a:rPr lang="en-US" sz="1425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76.7</a:t>
            </a: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 trace dataset.</a:t>
            </a:r>
            <a:endParaRPr/>
          </a:p>
        </p:txBody>
      </p:sp>
      <p:pic>
        <p:nvPicPr>
          <p:cNvPr descr="image.png" id="246" name="Google Shape;24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0145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1285875" y="2386012"/>
            <a:ext cx="100395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Ablation studies to analyze the contribution of each branch (GNN vs LSTM vs Grammar).</a:t>
            </a:r>
            <a:endParaRPr/>
          </a:p>
        </p:txBody>
      </p:sp>
      <p:pic>
        <p:nvPicPr>
          <p:cNvPr descr="image.png" id="248" name="Google Shape;24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4288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285875" y="2800350"/>
            <a:ext cx="100395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Cross-system validation on Sock-Shop and DeathStarBench.</a:t>
            </a:r>
            <a:endParaRPr/>
          </a:p>
        </p:txBody>
      </p:sp>
      <p:pic>
        <p:nvPicPr>
          <p:cNvPr descr="image.png" id="250" name="Google Shape;25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84321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1285875" y="3214687"/>
            <a:ext cx="100395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Visualization of XAI: Attention heatmaps and detailed SHAP plots.</a:t>
            </a:r>
            <a:endParaRPr/>
          </a:p>
        </p:txBody>
      </p:sp>
      <p:pic>
        <p:nvPicPr>
          <p:cNvPr descr="image.png" id="252" name="Google Shape;25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32575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FUTURE WORK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5587"/>
            <a:ext cx="352425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795587"/>
            <a:ext cx="352425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795587"/>
            <a:ext cx="352425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3125" y="30337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3"/>
          <p:cNvSpPr txBox="1"/>
          <p:nvPr/>
        </p:nvSpPr>
        <p:spPr>
          <a:xfrm>
            <a:off x="733425" y="3557587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Innovation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809625" y="4014787"/>
            <a:ext cx="3048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Grammar + Neural Fusion for structural and temporal insights.</a:t>
            </a:r>
            <a:endParaRPr/>
          </a:p>
        </p:txBody>
      </p:sp>
      <p:pic>
        <p:nvPicPr>
          <p:cNvPr descr="image.png" id="267" name="Google Shape;26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875" y="30337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 txBox="1"/>
          <p:nvPr/>
        </p:nvSpPr>
        <p:spPr>
          <a:xfrm>
            <a:off x="4495800" y="3557587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Reliability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4572000" y="4014787"/>
            <a:ext cx="3048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Addresses the accuracy-interpretability gap in production.</a:t>
            </a:r>
            <a:endParaRPr/>
          </a:p>
        </p:txBody>
      </p:sp>
      <p:pic>
        <p:nvPicPr>
          <p:cNvPr descr="image.png" id="270" name="Google Shape;27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91687" y="30337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8258175" y="3557587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Validation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8334375" y="4014787"/>
            <a:ext cx="3048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State-of-the-art results (99.2% Accuracy) in early testing.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SUMMARY</a:t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3920728" y="2053679"/>
            <a:ext cx="435054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3539399" y="3672925"/>
            <a:ext cx="51132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xHybrid: Explainable Hybrid Anomaly Detection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22241134 TANVIR RAHMAN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CSE713 - Advance Pattern Recognition | Fall 2025</a:t>
            </a:r>
            <a:endParaRPr/>
          </a:p>
        </p:txBody>
      </p:sp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988695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